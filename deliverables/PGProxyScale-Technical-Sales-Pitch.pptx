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f8ef26e37045a3" /><Relationship Type="http://schemas.openxmlformats.org/officeDocument/2006/relationships/extended-properties" Target="/docProps/app.xml" Id="R71ad7e2329894af3" /><Relationship Type="http://schemas.openxmlformats.org/officeDocument/2006/relationships/officeDocument" Target="/ppt/presentation.xml" Id="Re7b789484d4645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7b7502740443fe"/>
  </p:sldMasterIdLst>
  <p:notesMasterIdLst>
    <p:notesMasterId xmlns:r="http://schemas.openxmlformats.org/officeDocument/2006/relationships" r:id="R598bfe29a9d94d7e"/>
  </p:notesMasterIdLst>
  <p:sldIdLst>
    <p:sldId xmlns:r="http://schemas.openxmlformats.org/officeDocument/2006/relationships" id="256" r:id="Re5e8a9d6861749fb"/>
    <p:sldId xmlns:r="http://schemas.openxmlformats.org/officeDocument/2006/relationships" id="257" r:id="R7b9f71fee5b2405d"/>
    <p:sldId xmlns:r="http://schemas.openxmlformats.org/officeDocument/2006/relationships" id="258" r:id="R8d8c44a9cc004692"/>
    <p:sldId xmlns:r="http://schemas.openxmlformats.org/officeDocument/2006/relationships" id="259" r:id="R14c8fc7d3df54fb5"/>
    <p:sldId xmlns:r="http://schemas.openxmlformats.org/officeDocument/2006/relationships" id="260" r:id="Rb1f506624aef4a3a"/>
    <p:sldId xmlns:r="http://schemas.openxmlformats.org/officeDocument/2006/relationships" id="261" r:id="R61973de8ff904547"/>
    <p:sldId xmlns:r="http://schemas.openxmlformats.org/officeDocument/2006/relationships" id="262" r:id="R935f08ac719144ca"/>
    <p:sldId xmlns:r="http://schemas.openxmlformats.org/officeDocument/2006/relationships" id="263" r:id="R06412a7e4b9249ee"/>
    <p:sldId xmlns:r="http://schemas.openxmlformats.org/officeDocument/2006/relationships" id="264" r:id="R62950973ddc344fc"/>
    <p:sldId xmlns:r="http://schemas.openxmlformats.org/officeDocument/2006/relationships" id="265" r:id="R02ba0f0f949444ef"/>
    <p:sldId xmlns:r="http://schemas.openxmlformats.org/officeDocument/2006/relationships" id="266" r:id="R8b63eccc84b14e46"/>
    <p:sldId xmlns:r="http://schemas.openxmlformats.org/officeDocument/2006/relationships" id="267" r:id="Rd49e429226f24508"/>
    <p:sldId xmlns:r="http://schemas.openxmlformats.org/officeDocument/2006/relationships" id="268" r:id="R47244ccced814d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5f4cce83334da4" /><Relationship Type="http://schemas.openxmlformats.org/officeDocument/2006/relationships/slideMaster" Target="/ppt/slideMasters/slideMaster1.xml" Id="R817b7502740443fe" /><Relationship Type="http://schemas.openxmlformats.org/officeDocument/2006/relationships/notesMaster" Target="/ppt/notesMasters/notesMaster1.xml" Id="R598bfe29a9d94d7e" /><Relationship Type="http://schemas.openxmlformats.org/officeDocument/2006/relationships/presProps" Target="/ppt/presProps.xml" Id="Re0d73150d6024ca3" /><Relationship Type="http://schemas.openxmlformats.org/officeDocument/2006/relationships/tableStyles" Target="/ppt/tableStyles.xml" Id="Rf8b7bba5fef3430c" /><Relationship Type="http://schemas.openxmlformats.org/officeDocument/2006/relationships/slide" Target="/ppt/slides/slide1.xml" Id="Re5e8a9d6861749fb" /><Relationship Type="http://schemas.openxmlformats.org/officeDocument/2006/relationships/slide" Target="/ppt/slides/slide2.xml" Id="R7b9f71fee5b2405d" /><Relationship Type="http://schemas.openxmlformats.org/officeDocument/2006/relationships/slide" Target="/ppt/slides/slide3.xml" Id="R8d8c44a9cc004692" /><Relationship Type="http://schemas.openxmlformats.org/officeDocument/2006/relationships/slide" Target="/ppt/slides/slide4.xml" Id="R14c8fc7d3df54fb5" /><Relationship Type="http://schemas.openxmlformats.org/officeDocument/2006/relationships/slide" Target="/ppt/slides/slide5.xml" Id="Rb1f506624aef4a3a" /><Relationship Type="http://schemas.openxmlformats.org/officeDocument/2006/relationships/slide" Target="/ppt/slides/slide6.xml" Id="R61973de8ff904547" /><Relationship Type="http://schemas.openxmlformats.org/officeDocument/2006/relationships/slide" Target="/ppt/slides/slide7.xml" Id="R935f08ac719144ca" /><Relationship Type="http://schemas.openxmlformats.org/officeDocument/2006/relationships/slide" Target="/ppt/slides/slide8.xml" Id="R06412a7e4b9249ee" /><Relationship Type="http://schemas.openxmlformats.org/officeDocument/2006/relationships/slide" Target="/ppt/slides/slide9.xml" Id="R62950973ddc344fc" /><Relationship Type="http://schemas.openxmlformats.org/officeDocument/2006/relationships/slide" Target="/ppt/slides/slide10.xml" Id="R02ba0f0f949444ef" /><Relationship Type="http://schemas.openxmlformats.org/officeDocument/2006/relationships/slide" Target="/ppt/slides/slide11.xml" Id="R8b63eccc84b14e46" /><Relationship Type="http://schemas.openxmlformats.org/officeDocument/2006/relationships/slide" Target="/ppt/slides/slide12.xml" Id="Rd49e429226f24508" /><Relationship Type="http://schemas.openxmlformats.org/officeDocument/2006/relationships/slide" Target="/ppt/slides/slide13.xml" Id="R47244ccced814d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f239728b3542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4c53657a5c4f07" /><Relationship Type="http://schemas.openxmlformats.org/officeDocument/2006/relationships/notesMaster" Target="/ppt/notesMasters/notesMaster1.xml" Id="Raed304c3199d40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e0c6f4c5a74f3e" /><Relationship Type="http://schemas.openxmlformats.org/officeDocument/2006/relationships/notesMaster" Target="/ppt/notesMasters/notesMaster1.xml" Id="Ra485b1a60d364b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d78c19356f49b1" /><Relationship Type="http://schemas.openxmlformats.org/officeDocument/2006/relationships/notesMaster" Target="/ppt/notesMasters/notesMaster1.xml" Id="R6aaa74c3562f43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2986446cce40f2" /><Relationship Type="http://schemas.openxmlformats.org/officeDocument/2006/relationships/notesMaster" Target="/ppt/notesMasters/notesMaster1.xml" Id="Re7894a73288045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14e66985824b9d" /><Relationship Type="http://schemas.openxmlformats.org/officeDocument/2006/relationships/notesMaster" Target="/ppt/notesMasters/notesMaster1.xml" Id="Rde3f62ec5f6249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a59a419162477c" /><Relationship Type="http://schemas.openxmlformats.org/officeDocument/2006/relationships/notesMaster" Target="/ppt/notesMasters/notesMaster1.xml" Id="R02a0f303d7f649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572e11f9544e87" /><Relationship Type="http://schemas.openxmlformats.org/officeDocument/2006/relationships/notesMaster" Target="/ppt/notesMasters/notesMaster1.xml" Id="Ref0734b718f244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2bfd87e4564ddc" /><Relationship Type="http://schemas.openxmlformats.org/officeDocument/2006/relationships/notesMaster" Target="/ppt/notesMasters/notesMaster1.xml" Id="Rab4dd010fc7847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f51de9e3a04140" /><Relationship Type="http://schemas.openxmlformats.org/officeDocument/2006/relationships/notesMaster" Target="/ppt/notesMasters/notesMaster1.xml" Id="Re05f0e4d5c2549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685f336d334e46" /><Relationship Type="http://schemas.openxmlformats.org/officeDocument/2006/relationships/notesMaster" Target="/ppt/notesMasters/notesMaster1.xml" Id="R1619b0a2455a4a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90d643caf64809" /><Relationship Type="http://schemas.openxmlformats.org/officeDocument/2006/relationships/notesMaster" Target="/ppt/notesMasters/notesMaster1.xml" Id="Rf08971c2bb8949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5327f2bdcb4cc4" /><Relationship Type="http://schemas.openxmlformats.org/officeDocument/2006/relationships/notesMaster" Target="/ppt/notesMasters/notesMaster1.xml" Id="R649ace6421ba44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de03caa06f487f" /><Relationship Type="http://schemas.openxmlformats.org/officeDocument/2006/relationships/notesMaster" Target="/ppt/notesMasters/notesMaster1.xml" Id="R164b5ee3539343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status: development prototype as of September 29, 2026. Source: docs/vision/product-thesis.md and docs/vision/roadmap.md.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diagram. No measured scale or cost reduction implied. PostgreSQL clients often use connection-local state. Sources: PgBouncer feature map https://www.pgbouncer.org/features.html and repository product 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prototype modules: pgproxy-wire, pgproxy-parser, pgproxy-session, pgproxy-pool and pgproxy-core. Policy, fairness and MCP are roadmap items, not implemented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crates/pgproxy-session/src/lib.rs, crates/pgproxy-wire/src/session/transaction.rs, crates/pgproxy-wire/src/backend.rs. Ledger updates on confirmed backend completion. On safe release, cancel ownership revokes before reset/check-in. Restore batches can add a roundtrip.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crates/pgproxy-session/src/lib.rs and /tmp/pgproxy-ledger-live.log. Supported means demonstrated in the prototype, not exhaustive PostgreSQL compatibility. Resource pinning preserves behavior but reduces pool efficiency.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crates/pgproxy-session/src/lib.rs restore(), crates/pgproxy-wire/src/backend.rs restore_session(). SQL PREPARE and named wire Parse support in the prototype. Conservative pinning applies for some contexts.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Documentation reviewed September 29, 2026. PgBouncer: https://www.pgbouncer.org/features.html and https://www.pgbouncer.org/config. PgDog: https://docs.pgdog.dev/features/connection-pooler/transaction-mode/, https://docs.pgdog.dev/features/connection-pooler/prepared-statements/, https://docs.pgdog.dev/configuration/pgdog.toml/general/, https://docs.pgdog.dev/features/connection-pooler/pub_sub/. PgDog SQL PREPARE requires full mode, pub/sub requires configuration, advisory locks require parser support. These are feature categories, not benchmark equivalence. PGProxyScale sources: current ledger implementation and live conformance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PgBouncer sources: https://www.pgbouncer.org/features.html and https://www.pgbouncer.org/usage. PgDog sources: https://docs.pgdog.dev/features/. Pgpool-II source: https://www.pgpool.net/docs/latest/en/html/intro-whatis.html. PGProxyScale roadmap: docs/vision/roadmap.md. No throughput, price, maturity or reliability ranking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test result: /tmp/pgproxy-ledger-live.log, 17 passed, 0 failed. Native proxy on macOS, psycopg3, Docker PostgreSQL 18. Tests include named/unnamed prepares, SQL PREPARE, SET, search_path, held cursor, advisory lock, LISTEN/NOTIFY, COPY and concurrent clients. Some pass through backend retention. Unit/socket tests cover MD5/SCRAM client auth and cancel ownership. Tests do not establish zero pinning, all versions, all drivers, fault recovery or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crates/pgproxy-core/src/config.rs and crates/pgproxy-wire/src/auth/client.rs. Transaction mode requires explicit trust, MD5 or SCRAM-SHA-256 configuration. Session mode currently uses passthrough auth. TLS termination/channel binding are unfinished. The tunnel in the diagram is an external pilot prerequisite, not native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roadmap: docs/vision/roadmap.md, docs/plans/implementation-status.md. Ordering shown is product direction, not release dates or committed delivery. Sharding is optional and customer-gated.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commercial evaluation process, not a measured outcome or guaranteed SLA. Measure replay/reset overhead and backend retention on the same workload against direct PostgreSQL, PgBouncer and PgDog. Release criteria must include functional isolation and fault behavior, not throughput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external sources are official documentation. Reviewed September 29, 2026. Product implementation is the local working tree, not a released package. Detailed source mapping appears in each relevant slide’s speaker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f4716a32347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a45c89cb584a5d" /><Relationship Type="http://schemas.openxmlformats.org/officeDocument/2006/relationships/slideLayout" Target="/ppt/slideLayouts/slideLayout1.xml" Id="Rb06d6aa8bed54f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6d6aa8bed54f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ce697e666459c" /><Relationship Type="http://schemas.openxmlformats.org/officeDocument/2006/relationships/notesSlide" Target="/ppt/notesSlides/notesSlide1.xml" Id="R0b8427232e7846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a7094cdc84192" /><Relationship Type="http://schemas.openxmlformats.org/officeDocument/2006/relationships/notesSlide" Target="/ppt/notesSlides/notesSlide2.xml" Id="Rbb47259e05844c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ff157595145be" /><Relationship Type="http://schemas.openxmlformats.org/officeDocument/2006/relationships/notesSlide" Target="/ppt/notesSlides/notesSlide3.xml" Id="Rec3fc3441c8d4b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3ec6b2e2e43dd" /><Relationship Type="http://schemas.openxmlformats.org/officeDocument/2006/relationships/notesSlide" Target="/ppt/notesSlides/notesSlide4.xml" Id="Rabfc98538c1145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d97fcb123449a" /><Relationship Type="http://schemas.openxmlformats.org/officeDocument/2006/relationships/notesSlide" Target="/ppt/notesSlides/notesSlide5.xml" Id="Rf6536d9289af45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5f5ba9f8142e6" /><Relationship Type="http://schemas.openxmlformats.org/officeDocument/2006/relationships/notesSlide" Target="/ppt/notesSlides/notesSlide6.xml" Id="R240ec84b82e447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90f41f77449ce" /><Relationship Type="http://schemas.openxmlformats.org/officeDocument/2006/relationships/notesSlide" Target="/ppt/notesSlides/notesSlide7.xml" Id="Rb03ccdd19d2945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579ea9f5742c1" /><Relationship Type="http://schemas.openxmlformats.org/officeDocument/2006/relationships/notesSlide" Target="/ppt/notesSlides/notesSlide8.xml" Id="R122157dfa2474b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071efae264662" /><Relationship Type="http://schemas.openxmlformats.org/officeDocument/2006/relationships/notesSlide" Target="/ppt/notesSlides/notesSlide9.xml" Id="R2abd4a5937eb4b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e3a42eaaf4a15" /><Relationship Type="http://schemas.openxmlformats.org/officeDocument/2006/relationships/notesSlide" Target="/ppt/notesSlides/notesSlide10.xml" Id="Rd2026be6dc4240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652d32ed74787" /><Relationship Type="http://schemas.openxmlformats.org/officeDocument/2006/relationships/notesSlide" Target="/ppt/notesSlides/notesSlide11.xml" Id="R98fe2e44681447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4bcf36c36419d" /><Relationship Type="http://schemas.openxmlformats.org/officeDocument/2006/relationships/notesSlide" Target="/ppt/notesSlides/notesSlide12.xml" Id="Rf56fa9798b3649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6197bc21045d0" /><Relationship Type="http://schemas.openxmlformats.org/officeDocument/2006/relationships/notesSlide" Target="/ppt/notesSlides/notesSlide13.xml" Id="R9ecad5868ba74d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A646B-06F2-4F7E-A607-1CE6BA93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PGProxyScale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32AE6-21C5-4751-AB35-E0CA40DA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33399-3E71-43F6-830F-0AFA9973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PostgreSQL connection sharing</a:t>
            </a:r>
          </a:p>
          <a:p xmlns:a="http://schemas.openxmlformats.org/drawingml/2006/main">
            <a:pPr>
              <a:defRPr sz="39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with explicit session-state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84FEB-6677-45F8-9261-50A08E53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DD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DD8C0"/>
                </a:solidFill>
                <a:latin typeface="Helvetica Neue"/>
                <a:ea typeface="Helvetica Neue"/>
                <a:cs typeface="Helvetica Neue"/>
              </a:rPr>
              <a:t>Technical sales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32CA3-7C17-4377-81C7-AA4109F2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Design-partner preview   / 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73470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B9F66-0E30-463D-BAB8-0EA549D0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The connection scale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21684-7BF5-4B79-9D4D-3B0DA6BC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73083-ECD8-4883-B052-0649AEDE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Application fleet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Many client sessions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C037F-A50E-4D06-98D3-45728D43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Shared connection pool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Fewer backend sessions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1650C-87F9-44CE-8F71-CFCC3745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Bounded connection budget</a:t>
            </a:r>
          </a:p>
        </p:txBody>
      </p: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9289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58100" y="29289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73A45-6085-469A-912D-544000A8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Prepared statements and settings belong to sessions.</a:t>
            </a:r>
          </a:p>
          <a:p xmlns:a="http://schemas.openxmlformats.org/drawingml/2006/main">
            <a:pPr>
              <a:defRPr sz="240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Sharing backends requires the proxy to preserve that state.</a:t>
            </a:r>
          </a:p>
        </p:txBody>
      </p:sp>
    </p:spTree>
    <p:extLst>
      <p:ext uri="{BB962C8B-B14F-4D97-AF65-F5344CB8AC3E}">
        <p14:creationId xmlns:p14="http://schemas.microsoft.com/office/powerpoint/2010/main" val="1766118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3A8C9-E6AE-4094-B33F-07CC3458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PGProxyScale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FC4F7-1895-4110-B868-7C6F656D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8DFC9-B543-4326-A103-D472E488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PostgreSQL drivers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458A2-A4EE-4E07-B482-44C1F56D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09750"/>
            <a:ext cx="371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Protocol + authentication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8B784-D5D0-4534-8268-7617102F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Backend pool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90850" y="2286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62850" y="2286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9BC53-20D3-4428-B5ED-B00448AA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71875"/>
            <a:ext cx="371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PostgreSQL SQL parser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06485-5B1D-4631-B91A-1D8DA993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71875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Session-State Ledger</a:t>
            </a:r>
          </a:p>
        </p:txBody>
      </p:sp>
      <p:cxnSp>
        <p:nvCxnSpPr>
          <p:cNvPr id="24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705475" y="27622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62850" y="40005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9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10086975" y="27622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56261-6AD8-477B-9D2A-97490B99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DD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DD8C0"/>
                </a:solidFill>
                <a:latin typeface="Helvetica Neue"/>
                <a:ea typeface="Helvetica Neue"/>
                <a:cs typeface="Helvetica Neue"/>
              </a:rPr>
              <a:t>Current: session and transaction modes, bounded messages and state 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074A8-4EE1-4E6F-B9DF-7F02EABF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rPr>
              <a:t>Planned: SQL policy, principal fairness, agent access and resilience</a:t>
            </a:r>
          </a:p>
        </p:txBody>
      </p:sp>
    </p:spTree>
    <p:extLst>
      <p:ext uri="{BB962C8B-B14F-4D97-AF65-F5344CB8AC3E}">
        <p14:creationId xmlns:p14="http://schemas.microsoft.com/office/powerpoint/2010/main" val="1068961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995D1-C59B-4D24-BADD-EB5C6F8D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The ledger follows the client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4BEB9-11F6-4517-BA92-382F03A0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B3CA5-1FE1-4768-AED0-381DB0A7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1  Observe SQL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and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53EEB-C888-49DC-A6C4-A93D0E90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2  Confirm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backend effects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43449-33B1-4407-A587-C30B0507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3  Record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client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CC9F8-C90E-4A85-A390-12C98383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4  Restore on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next checkout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90850" y="2714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48350" y="2714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05850" y="2714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6DD00-7BCB-4BD0-B0D3-B80C6A50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Release requires an idle backend, completed exchanges</a:t>
            </a:r>
          </a:p>
          <a:p xmlns:a="http://schemas.openxmlformats.org/drawingml/2006/main">
            <a:pPr>
              <a:defRPr sz="24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and no state that needs a dedicated connection.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6B14D-DA92-4C37-893F-9CE9B462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Before reuse: clear cancellation ownership and reset the backend.</a:t>
            </a:r>
          </a:p>
        </p:txBody>
      </p:sp>
    </p:spTree>
    <p:extLst>
      <p:ext uri="{BB962C8B-B14F-4D97-AF65-F5344CB8AC3E}">
        <p14:creationId xmlns:p14="http://schemas.microsoft.com/office/powerpoint/2010/main" val="558363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A9134-D2D9-4DED-9F4A-45ECFE53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Compatibility has an explicit state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0F820-43F6-4253-832F-E9A4BE99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4191000"/>
                <a:gridCol w="2781300"/>
              </a:tblGrid>
              <a:tr h="7429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Session behavior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treatment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Connection sharing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SET / RESET and prepared statements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 confirmed state and replay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Eligible when safe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 transaction and active protocol batch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backend ownership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Until exchange completes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LISTEN, held cursors, temp tables, session locks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 the backend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Reduced while state persists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 session effects / changed parser context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Conservative retention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workload review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6D512-4CF4-43D2-869B-3950FDB5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rPr>
              <a:t>Full state virtualization and zero pinning remain development goals.</a:t>
            </a:r>
          </a:p>
        </p:txBody>
      </p:sp>
    </p:spTree>
    <p:extLst>
      <p:ext uri="{BB962C8B-B14F-4D97-AF65-F5344CB8AC3E}">
        <p14:creationId xmlns:p14="http://schemas.microsoft.com/office/powerpoint/2010/main" val="162047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239B0-CCDE-454D-8982-112BB9FA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Prepared statements across backend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5EE1F-A143-4364-9FA9-69713A2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62FB2-CE9D-4DEF-A0EF-A86E0B7E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Client session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Prepared statement 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6BF74-4963-41BD-B1F1-2FEAF5C6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47875"/>
            <a:ext cx="295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Ledger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SQL + parameter types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Preparation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C2B82-4601-4573-B9A7-DEC6B705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47875"/>
            <a:ext cx="295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New backend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Restore settings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Prepare P</a:t>
            </a:r>
          </a:p>
        </p:txBody>
      </p:sp>
      <p:cxnSp>
        <p:nvCxnSpPr>
          <p:cNvPr id="1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62350" y="2786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62850" y="278606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A1990-1B76-4660-8BE7-10D27B5E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The client keeps its statement name while the proxy restores</a:t>
            </a:r>
          </a:p>
          <a:p xmlns:a="http://schemas.openxmlformats.org/drawingml/2006/main">
            <a:pPr>
              <a:defRPr sz="240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the required state before forwarding the next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F95DD-EAC2-4360-9454-CD75287E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rPr>
              <a:t>Tradeoff: replay and reset add work. Benchmark impact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544852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3BED4-BCCF-4D76-BF58-7939EF93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Transaction pooling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C6C85-2FBE-4FEC-A654-467986EB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552700"/>
                <a:gridCol w="2609850"/>
                <a:gridCol w="3028950"/>
              </a:tblGrid>
              <a:tr h="6429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Behavior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PgBouncer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PgDog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PGProxyScale preview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Named protocol prepares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Configurable tracking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Rewrites and caches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Ledger replay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SQL PREPARE / EXECUTE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in transaction mode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Configurable full mode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Ledger replay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Session SET / RESET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 tracked parameters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Tracks session settings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Tracks and replays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LISTEN / NOTIFY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LISTEN needs session mode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Configurable pub/sub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Dedicated backend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Session advisory locks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Need session mode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Pins with parser support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Conservative retention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43DE3-2D40-4A19-98A1-634D2784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Sources: official feature and configuration documentation. Details in notes.</a:t>
            </a:r>
          </a:p>
        </p:txBody>
      </p:sp>
    </p:spTree>
    <p:extLst>
      <p:ext uri="{BB962C8B-B14F-4D97-AF65-F5344CB8AC3E}">
        <p14:creationId xmlns:p14="http://schemas.microsoft.com/office/powerpoint/2010/main" val="11824475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45681-9FCE-4197-BF90-0A57048A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Product choice depends on the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30389-8F7C-4649-BA81-FA24EE6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953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 fit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PgBouncer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Lightweight pooling with well-defined session compatibility limits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PgDog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Pooling with replica routing, sharding and broader session handling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Pgpool-II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middleware with load balancing and high-availability features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PGProxyScale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Design-partner evaluation of a ledger-based gateway and planned governance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1C057-90A2-4E44-B448-3A4D08B0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rPr>
              <a:t>PGProxyScale’s proposed differentiation is policy + fairness + state control.</a:t>
            </a:r>
          </a:p>
          <a:p xmlns:a="http://schemas.openxmlformats.org/drawingml/2006/main">
            <a:pPr>
              <a:defRPr sz="2025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rPr>
              <a:t>Policy and fairness remain planned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845839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78F0C-D9CC-4FB1-B2A9-3E2E698C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Prototype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AA554-7690-4E71-90CF-45D5EEB0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2D5D6-6694-4A10-A716-CDC01B6C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4DD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4DD8C0"/>
                </a:solidFill>
                <a:latin typeface="Helvetica Neue"/>
                <a:ea typeface="Helvetica Neue"/>
                <a:cs typeface="Helvetica Neue"/>
              </a:rPr>
              <a:t>17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BBC49-D9E6-4DA0-9172-B5311746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Live PostgreSQL 18 compatibility scenarios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83E01-BBA7-4CCA-9616-B27E71CA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psycopg3 against the native proxy</a:t>
            </a:r>
          </a:p>
          <a:p xmlns:a="http://schemas.openxmlformats.org/drawingml/2006/main">
            <a:pPr>
              <a:defRPr sz="21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Prepared statements, session settings, COPY and concurrency</a:t>
            </a:r>
          </a:p>
          <a:p xmlns:a="http://schemas.openxmlformats.org/drawingml/2006/main">
            <a:pPr>
              <a:defRPr sz="21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Stateful scenarios can retain a dedicated 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217F5-9BB6-479F-8F59-D9ED2B0D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rPr>
              <a:t>Evidence scope: functional compatibility. Throughput and fault resilience remain unproven.</a:t>
            </a:r>
          </a:p>
        </p:txBody>
      </p:sp>
    </p:spTree>
    <p:extLst>
      <p:ext uri="{BB962C8B-B14F-4D97-AF65-F5344CB8AC3E}">
        <p14:creationId xmlns:p14="http://schemas.microsoft.com/office/powerpoint/2010/main" val="1578996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9EAB5-A60C-4856-B267-53CD41A7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Deployment and security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16E6C-46B2-4C88-8723-1ABC16CF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AB966-ECA0-40AA-95C3-AFB74FF3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714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Pilot workload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1FEC2-FA33-4207-A42D-FCEE11CD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PGProxyScale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Private network /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external encrypted tunnel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C0C19-CC40-4838-8AFD-7322DA5B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86000"/>
            <a:ext cx="2714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2"/>
          </a:solidFill>
          <a:ln xmlns:a="http://schemas.openxmlformats.org/drawingml/2006/main" w="19050">
            <a:solidFill>
              <a:srgbClr val="4DD8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Pilot database</a:t>
            </a:r>
          </a:p>
        </p:txBody>
      </p:sp>
      <p:cxnSp>
        <p:nvCxnSpPr>
          <p:cNvPr id="1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24225" y="2857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58100" y="2857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DD8C0"/>
            </a:solidFill>
            <a:prstDash val="solid"/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798BA-ED65-4BAA-8DC3-9E552957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DD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DD8C0"/>
                </a:solidFill>
                <a:latin typeface="Helvetica Neue"/>
                <a:ea typeface="Helvetica Neue"/>
                <a:cs typeface="Helvetica Neue"/>
              </a:rPr>
              <a:t>Current: transaction client auth with MD5 or SCRAM, configurable limits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1AC68-FE5F-4847-A5AE-30AFC264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rPr>
              <a:t>Before production: native TLS, security review, broader driver coverage</a:t>
            </a:r>
          </a:p>
          <a:p xmlns:a="http://schemas.openxmlformats.org/drawingml/2006/main">
            <a:pPr>
              <a:defRPr sz="2100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4C577"/>
                </a:solidFill>
                <a:latin typeface="Helvetica Neue"/>
                <a:ea typeface="Helvetica Neue"/>
                <a:cs typeface="Helvetica Neue"/>
              </a:rPr>
              <a:t>and fault-injection acceptance.</a:t>
            </a:r>
          </a:p>
        </p:txBody>
      </p:sp>
    </p:spTree>
    <p:extLst>
      <p:ext uri="{BB962C8B-B14F-4D97-AF65-F5344CB8AC3E}">
        <p14:creationId xmlns:p14="http://schemas.microsoft.com/office/powerpoint/2010/main" val="15516774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1ABDD-6608-4807-88A5-60B27687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Development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1FC43-D9E1-45B9-A4FC-597BA58B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11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6746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DD8C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</a:t>
                      </a:r>
                    </a:p>
                  </a:txBody>
                  <a:tcPr marL="133350" marR="133350" marT="76200" marB="76200">
                    <a:solidFill>
                      <a:srgbClr val="162D42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Working foundation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Protocol relay, parser, state ledger, authentication and cancellation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Compatibility and production readiness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DDL-safe plans, deeper virtualization, TLS and acceptance coverage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Governance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SQL policy, credentials, principal fairness and cost attribution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Broader gateway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/ MCP access, resilience and caching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Optional expansion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F4F7F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Customer-driven sharding</a:t>
                      </a:r>
                    </a:p>
                  </a:txBody>
                  <a:tcPr marL="133350" marR="133350" marT="76200" marB="76200">
                    <a:solidFill>
                      <a:srgbClr val="0B172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1626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E37C2-B6F2-47B6-A0B7-6718FD84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Design-partner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B0473-FC4E-4533-929F-5607448D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20FF2-6055-44BE-9148-5C9FB92A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DD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4DD8C0"/>
                </a:solidFill>
                <a:latin typeface="Helvetica Neue"/>
                <a:ea typeface="Helvetica Neue"/>
                <a:cs typeface="Helvetica Neue"/>
              </a:rPr>
              <a:t>A workload-led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B896E-3369-4DDD-B41B-34D8962B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72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Select one service with prepared statements and session settings.</a:t>
            </a:r>
          </a:p>
          <a:p xmlns:a="http://schemas.openxmlformats.org/drawingml/2006/main">
            <a:pPr>
              <a:defRPr sz="22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Replay its compatibility suite through the proxy.</a:t>
            </a:r>
          </a:p>
          <a:p xmlns:a="http://schemas.openxmlformats.org/drawingml/2006/main">
            <a:pPr>
              <a:defRPr sz="22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Measure backend reuse, retention rate and p95 / p99 latency.</a:t>
            </a:r>
          </a:p>
          <a:p xmlns:a="http://schemas.openxmlformats.org/drawingml/2006/main">
            <a:pPr>
              <a:defRPr sz="22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Compare against direct PostgreSQL, PgBouncer and PgDog.</a:t>
            </a:r>
          </a:p>
          <a:p xmlns:a="http://schemas.openxmlformats.org/drawingml/2006/main">
            <a:pPr>
              <a:defRPr sz="22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Set production gates before expanding traffic.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1BDD1-94A1-4143-AB07-B2CFD594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Pilot deliverable: a compatibility report and a measured go / no-go decision</a:t>
            </a:r>
          </a:p>
        </p:txBody>
      </p:sp>
    </p:spTree>
    <p:extLst>
      <p:ext uri="{BB962C8B-B14F-4D97-AF65-F5344CB8AC3E}">
        <p14:creationId xmlns:p14="http://schemas.microsoft.com/office/powerpoint/2010/main" val="18636055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E8E02-4C2C-4C40-B41E-6D3549DF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Sources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E2566-F3A7-40A4-A6F0-40C10DB3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DA"/>
                </a:solidFill>
                <a:latin typeface="Helvetica Neue"/>
                <a:ea typeface="Helvetica Neue"/>
                <a:cs typeface="Helvetica Neue"/>
              </a:rPr>
              <a:t>PGProxyScale   /   Technical preview   /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173D9-0B49-4364-AE04-E6D3241F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PgBouncer feature map and configuration</a:t>
            </a:r>
          </a:p>
          <a:p xmlns:a="http://schemas.openxmlformats.org/drawingml/2006/main">
            <a:pPr>
              <a:def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www.pgbouncer.org/features.html</a:t>
            </a:r>
          </a:p>
          <a:p xmlns:a="http://schemas.openxmlformats.org/drawingml/2006/main">
            <a:pPr>
              <a:def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www.pgbouncer.org/config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72BB0-8148-4C5D-ADF9-E2EF01BF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PgDog features, session state, prepared statements and pub/sub</a:t>
            </a:r>
          </a:p>
          <a:p xmlns:a="http://schemas.openxmlformats.org/drawingml/2006/main">
            <a:pPr>
              <a:def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docs.pgdog.dev/features/</a:t>
            </a:r>
          </a:p>
          <a:p xmlns:a="http://schemas.openxmlformats.org/drawingml/2006/main">
            <a:pPr>
              <a:def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docs.pgdog.dev/configuration/pgdog.toml/general/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00471-AA24-4D20-9B46-2B405D2E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Pgpool-II product documentation</a:t>
            </a:r>
          </a:p>
          <a:p xmlns:a="http://schemas.openxmlformats.org/drawingml/2006/main">
            <a:pPr>
              <a:def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4F7FB"/>
                </a:solidFill>
                <a:latin typeface="Helvetica Neue"/>
                <a:ea typeface="Helvetica Neue"/>
                <a:cs typeface="Helvetica Neue"/>
              </a:rPr>
              <a:t>www.pgpool.net/docs/latest/en/html/intro-whatis.html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2A8B3-1604-44B8-90BE-B727664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DD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DD8C0"/>
                </a:solidFill>
                <a:latin typeface="Helvetica Neue"/>
                <a:ea typeface="Helvetica Neue"/>
                <a:cs typeface="Helvetica Neue"/>
              </a:rPr>
              <a:t>PGProxyScale: repository roadmap, ledger code and PostgreSQL 18 live tests</a:t>
            </a:r>
          </a:p>
          <a:p xmlns:a="http://schemas.openxmlformats.org/drawingml/2006/main">
            <a:pPr>
              <a:defRPr sz="1875" b="0">
                <a:solidFill>
                  <a:srgbClr val="4DD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DD8C0"/>
                </a:solidFill>
                <a:latin typeface="Helvetica Neue"/>
                <a:ea typeface="Helvetica Neue"/>
                <a:cs typeface="Helvetica Neue"/>
              </a:rPr>
              <a:t>Implementation snapshot: September 29, 2026</a:t>
            </a:r>
          </a:p>
        </p:txBody>
      </p:sp>
    </p:spTree>
    <p:extLst>
      <p:ext uri="{BB962C8B-B14F-4D97-AF65-F5344CB8AC3E}">
        <p14:creationId xmlns:p14="http://schemas.microsoft.com/office/powerpoint/2010/main" val="810918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2026-09-30T02:30:59.1850000Z</dcterms:created>
  <dcterms:modified xsi:type="dcterms:W3CDTF">2026-09-30T02:30:59.1850000Z</dcterms:modified>
</coreProperties>
</file>